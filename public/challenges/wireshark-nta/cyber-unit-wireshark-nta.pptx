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0" dt="2026-09-22T14:14:30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Acklen (JACKL5968)" userId="S::jackl5968@ung.edu::c3560d64-7265-4b3f-ac41-d48a4e6b328e" providerId="AD" clId="Web-{00000000-0000-0000-0000-000000000000}"/>
    <pc:docChg chg="modSld">
      <pc:chgData name="Joshua Acklen (JACKL5968)" userId="S::jackl5968@ung.edu::c3560d64-7265-4b3f-ac41-d48a4e6b328e" providerId="AD" clId="Web-{00000000-0000-0000-0000-000000000000}" dt="2026-09-22T14:14:29.188" v="39" actId="20577"/>
      <pc:docMkLst>
        <pc:docMk/>
      </pc:docMkLst>
      <pc:sldChg chg="modSp">
        <pc:chgData name="Joshua Acklen (JACKL5968)" userId="S::jackl5968@ung.edu::c3560d64-7265-4b3f-ac41-d48a4e6b328e" providerId="AD" clId="Web-{00000000-0000-0000-0000-000000000000}" dt="2026-09-22T14:12:09.664" v="1" actId="20577"/>
        <pc:sldMkLst>
          <pc:docMk/>
          <pc:sldMk cId="0" sldId="258"/>
        </pc:sldMkLst>
        <pc:spChg chg="mod">
          <ac:chgData name="Joshua Acklen (JACKL5968)" userId="S::jackl5968@ung.edu::c3560d64-7265-4b3f-ac41-d48a4e6b328e" providerId="AD" clId="Web-{00000000-0000-0000-0000-000000000000}" dt="2026-09-22T14:12:09.664" v="1" actId="20577"/>
          <ac:spMkLst>
            <pc:docMk/>
            <pc:sldMk cId="0" sldId="258"/>
            <ac:spMk id="19" creationId="{00000000-0000-0000-0000-000000000000}"/>
          </ac:spMkLst>
        </pc:spChg>
      </pc:sldChg>
      <pc:sldChg chg="addSp delSp modSp">
        <pc:chgData name="Joshua Acklen (JACKL5968)" userId="S::jackl5968@ung.edu::c3560d64-7265-4b3f-ac41-d48a4e6b328e" providerId="AD" clId="Web-{00000000-0000-0000-0000-000000000000}" dt="2026-09-22T14:13:32.466" v="18" actId="20577"/>
        <pc:sldMkLst>
          <pc:docMk/>
          <pc:sldMk cId="0" sldId="259"/>
        </pc:sldMkLst>
        <pc:spChg chg="del mod">
          <ac:chgData name="Joshua Acklen (JACKL5968)" userId="S::jackl5968@ung.edu::c3560d64-7265-4b3f-ac41-d48a4e6b328e" providerId="AD" clId="Web-{00000000-0000-0000-0000-000000000000}" dt="2026-09-22T14:12:25.368" v="5"/>
          <ac:spMkLst>
            <pc:docMk/>
            <pc:sldMk cId="0" sldId="259"/>
            <ac:spMk id="19" creationId="{00000000-0000-0000-0000-000000000000}"/>
          </ac:spMkLst>
        </pc:spChg>
        <pc:spChg chg="del">
          <ac:chgData name="Joshua Acklen (JACKL5968)" userId="S::jackl5968@ung.edu::c3560d64-7265-4b3f-ac41-d48a4e6b328e" providerId="AD" clId="Web-{00000000-0000-0000-0000-000000000000}" dt="2026-09-22T14:12:25.368" v="4"/>
          <ac:spMkLst>
            <pc:docMk/>
            <pc:sldMk cId="0" sldId="259"/>
            <ac:spMk id="20" creationId="{00000000-0000-0000-0000-000000000000}"/>
          </ac:spMkLst>
        </pc:spChg>
        <pc:spChg chg="add del">
          <ac:chgData name="Joshua Acklen (JACKL5968)" userId="S::jackl5968@ung.edu::c3560d64-7265-4b3f-ac41-d48a4e6b328e" providerId="AD" clId="Web-{00000000-0000-0000-0000-000000000000}" dt="2026-09-22T14:12:29.822" v="7"/>
          <ac:spMkLst>
            <pc:docMk/>
            <pc:sldMk cId="0" sldId="259"/>
            <ac:spMk id="23" creationId="{DEE94188-12FF-A2C8-38FC-1F4F15B036BB}"/>
          </ac:spMkLst>
        </pc:spChg>
        <pc:spChg chg="add del">
          <ac:chgData name="Joshua Acklen (JACKL5968)" userId="S::jackl5968@ung.edu::c3560d64-7265-4b3f-ac41-d48a4e6b328e" providerId="AD" clId="Web-{00000000-0000-0000-0000-000000000000}" dt="2026-09-22T14:12:29.822" v="7"/>
          <ac:spMkLst>
            <pc:docMk/>
            <pc:sldMk cId="0" sldId="259"/>
            <ac:spMk id="24" creationId="{34B947C3-8EAD-29BB-B2E2-5019E0B5A22F}"/>
          </ac:spMkLst>
        </pc:spChg>
        <pc:spChg chg="add del mod">
          <ac:chgData name="Joshua Acklen (JACKL5968)" userId="S::jackl5968@ung.edu::c3560d64-7265-4b3f-ac41-d48a4e6b328e" providerId="AD" clId="Web-{00000000-0000-0000-0000-000000000000}" dt="2026-09-22T14:13:16.106" v="15"/>
          <ac:spMkLst>
            <pc:docMk/>
            <pc:sldMk cId="0" sldId="259"/>
            <ac:spMk id="25" creationId="{43486727-919C-2446-FD17-358B3151C20B}"/>
          </ac:spMkLst>
        </pc:spChg>
        <pc:spChg chg="add mod">
          <ac:chgData name="Joshua Acklen (JACKL5968)" userId="S::jackl5968@ung.edu::c3560d64-7265-4b3f-ac41-d48a4e6b328e" providerId="AD" clId="Web-{00000000-0000-0000-0000-000000000000}" dt="2026-09-22T14:13:30.185" v="17" actId="1076"/>
          <ac:spMkLst>
            <pc:docMk/>
            <pc:sldMk cId="0" sldId="259"/>
            <ac:spMk id="26" creationId="{B97C4AF9-5346-C04A-59EC-528D12714876}"/>
          </ac:spMkLst>
        </pc:spChg>
        <pc:spChg chg="add del">
          <ac:chgData name="Joshua Acklen (JACKL5968)" userId="S::jackl5968@ung.edu::c3560d64-7265-4b3f-ac41-d48a4e6b328e" providerId="AD" clId="Web-{00000000-0000-0000-0000-000000000000}" dt="2026-09-22T14:13:13.918" v="14"/>
          <ac:spMkLst>
            <pc:docMk/>
            <pc:sldMk cId="0" sldId="259"/>
            <ac:spMk id="28" creationId="{AE7FDBBF-5097-3800-0F15-1F9207CAA0B0}"/>
          </ac:spMkLst>
        </pc:spChg>
        <pc:spChg chg="add mod">
          <ac:chgData name="Joshua Acklen (JACKL5968)" userId="S::jackl5968@ung.edu::c3560d64-7265-4b3f-ac41-d48a4e6b328e" providerId="AD" clId="Web-{00000000-0000-0000-0000-000000000000}" dt="2026-09-22T14:13:32.466" v="18" actId="20577"/>
          <ac:spMkLst>
            <pc:docMk/>
            <pc:sldMk cId="0" sldId="259"/>
            <ac:spMk id="30" creationId="{5D6C7F78-DDA2-44EB-A99F-380E080011DD}"/>
          </ac:spMkLst>
        </pc:spChg>
      </pc:sldChg>
      <pc:sldChg chg="modSp">
        <pc:chgData name="Joshua Acklen (JACKL5968)" userId="S::jackl5968@ung.edu::c3560d64-7265-4b3f-ac41-d48a4e6b328e" providerId="AD" clId="Web-{00000000-0000-0000-0000-000000000000}" dt="2026-09-22T14:14:29.188" v="39" actId="20577"/>
        <pc:sldMkLst>
          <pc:docMk/>
          <pc:sldMk cId="0" sldId="260"/>
        </pc:sldMkLst>
        <pc:spChg chg="mod">
          <ac:chgData name="Joshua Acklen (JACKL5968)" userId="S::jackl5968@ung.edu::c3560d64-7265-4b3f-ac41-d48a4e6b328e" providerId="AD" clId="Web-{00000000-0000-0000-0000-000000000000}" dt="2026-09-22T14:14:29.188" v="39" actId="20577"/>
          <ac:spMkLst>
            <pc:docMk/>
            <pc:sldMk cId="0" sldId="26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877BB-EDE2-436A-94A1-25D818CC05D2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06F20-34FC-47B1-9D0E-AF5801D8D7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7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UNIT ATTENDANCE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pic>
        <p:nvPicPr>
          <p:cNvPr id="6" name="Image 1" descr="qr_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868680"/>
            <a:ext cx="2834640" cy="2834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0" y="3913632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Attendance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members, </a:t>
            </a: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this attendance form.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....yes, </a:t>
            </a:r>
            <a:r>
              <a:rPr lang="en-US" sz="1200" b="1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r>
              <a:rPr lang="en-US" sz="120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NCL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Cyber League (NCL)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6903720" cy="868680"/>
          </a:xfrm>
          <a:prstGeom prst="roundRect">
            <a:avLst>
              <a:gd name="adj" fmla="val 8421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00200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https://cyberskyline.com/events/ncl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Friendly Competition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375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 may compete, regardless of skill level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Easy-Hard Difficulty Challenges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Early Experience into CTF-style competitions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Engages team building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Merit-Based Unit Involvement</a:t>
            </a:r>
            <a:endParaRPr lang="en-US" sz="1500" dirty="0"/>
          </a:p>
        </p:txBody>
      </p:sp>
      <p:pic>
        <p:nvPicPr>
          <p:cNvPr id="10" name="Image 1" descr="qr_n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88036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NCL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Unit Promotion Path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745236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9164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Member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5196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5196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Member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42900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Full complete:</a:t>
            </a:r>
            <a:endParaRPr lang="en-US" sz="28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Calibri,Sans-Serif"/>
              <a:buChar char="-"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Linux Luminarium</a:t>
            </a:r>
          </a:p>
          <a:p>
            <a:pPr marL="457200" indent="-457200">
              <a:buFont typeface="Calibri,Sans-Serif"/>
              <a:buChar char="-"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HTB Starting Point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HTB Writeup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Promotion Test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410+ on AFT (cadets)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400" b="1" dirty="0">
              <a:solidFill>
                <a:srgbClr val="C9CDD4"/>
              </a:solidFill>
              <a:latin typeface="Arial"/>
              <a:cs typeface="Arial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526280" y="34290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custom tool, training platform, or other program approved by leadership and upload to the UNG Cyber Unit GitHub.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4290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resume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word essay on why you want to promote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Test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NCL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Unit Promotion Path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745236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9164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Member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5196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5196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194560"/>
            <a:ext cx="3657600" cy="50292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Member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3246120"/>
            <a:ext cx="3657600" cy="3154680"/>
          </a:xfrm>
          <a:prstGeom prst="roundRect">
            <a:avLst>
              <a:gd name="adj" fmla="val 173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34290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custom tool, training platform, or other program approved by leadership and upload to the UNG Cyber Unit GitHub.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34290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resume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word essay on why you want to promote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Test</a:t>
            </a:r>
            <a:endParaRPr lang="en-US" sz="1500" dirty="0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B97C4AF9-5346-C04A-59EC-528D12714876}"/>
              </a:ext>
            </a:extLst>
          </p:cNvPr>
          <p:cNvSpPr/>
          <p:nvPr/>
        </p:nvSpPr>
        <p:spPr>
          <a:xfrm>
            <a:off x="2738511" y="4751362"/>
            <a:ext cx="1066800" cy="38295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5D6C7F78-DDA2-44EB-A99F-380E080011DD}"/>
              </a:ext>
            </a:extLst>
          </p:cNvPr>
          <p:cNvSpPr txBox="1"/>
          <p:nvPr/>
        </p:nvSpPr>
        <p:spPr>
          <a:xfrm>
            <a:off x="685800" y="342900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Full complete:</a:t>
            </a:r>
            <a:endParaRPr lang="en-US" sz="28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Calibri,Sans-Serif"/>
              <a:buChar char="-"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Linux Luminarium</a:t>
            </a:r>
          </a:p>
          <a:p>
            <a:pPr marL="457200" indent="-457200">
              <a:buFont typeface="Calibri,Sans-Serif"/>
              <a:buChar char="-"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HTB Starting Point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HTB Writeup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Promotion Test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410+ on AFT (cadets)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400" b="1" dirty="0">
              <a:solidFill>
                <a:srgbClr val="C9CDD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8" y="457200"/>
            <a:ext cx="1828800" cy="1536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69748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&amp; Network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Analysis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C9CDD4"/>
                </a:solidFill>
                <a:latin typeface="Arial"/>
                <a:ea typeface="Arial" pitchFamily="34" charset="-122"/>
                <a:cs typeface="Arial"/>
              </a:rPr>
              <a:t>Introduction - Joshua Acklen - James Goble -</a:t>
            </a:r>
            <a:r>
              <a:rPr lang="en-US" sz="1600" dirty="0">
                <a:solidFill>
                  <a:srgbClr val="7A8089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600" dirty="0">
                <a:solidFill>
                  <a:srgbClr val="C9CDD4"/>
                </a:solidFill>
                <a:latin typeface="Arial"/>
                <a:ea typeface="Arial" pitchFamily="34" charset="-122"/>
                <a:cs typeface="Arial"/>
              </a:rPr>
              <a:t>UNG Cyber Unit - 09/22/2026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of North Georgia   |   Cyber Unit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NTA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Network Traffic Analysis?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 </a:t>
            </a:r>
            <a:r>
              <a:rPr lang="en-US" sz="18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Traffic Analysis (NTA) is the process of capturing, inspecting, and interpreting the data that moves across a network to understand behavior, diagnose problems, and detect malicious activity.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Cases: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776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&amp; threat hunting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malware command-and-control (C2) traffic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connectivity &amp; performance issues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firewall / IDS / IPS rules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IT MATTERS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NTA Matters for an Analyst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79222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don't lie.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can be edited or deleted - raw traffic shows what actually happened on the wire.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02920" y="2688336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587752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attacks touch the network.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Recon, delivery, command-and-control, and exfiltration all leave traffic behind.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02920" y="3584448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8386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enables early detection.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anomalies in traffic often catches an attacker before real damage is done.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379976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core analyst skill.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in NCL and other CTFs, and part of the Cyber Unit promotion path.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502920" y="5376672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276088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protocol intuition.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traffic should look makes it obvious when something doesn't.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TOOL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Wireshark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 </a:t>
            </a:r>
            <a:r>
              <a:rPr lang="en-US" sz="18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is a free, open-source packet analyzer that captures traffic on a network interface and displays it in human-readable detail.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Use It: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7033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 from any interface - Wi-Fi, Ethernet, loopback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.pcap / .pcapng files from other tools (tcpdump, NCL, CTFs)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protocol dissection - HTTP, DNS, TCP, TLS, and more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cross-platform, and the industry-standard packet analyzer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BASICS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Wireshark Interface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657600" cy="64008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List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496312"/>
            <a:ext cx="3657600" cy="2834640"/>
          </a:xfrm>
          <a:prstGeom prst="roundRect">
            <a:avLst>
              <a:gd name="adj" fmla="val 1935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97480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pane - one row per packet: time, source, destination, protocol, and a short summary.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657600" cy="64008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519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Details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51960" y="2496312"/>
            <a:ext cx="3657600" cy="2834640"/>
          </a:xfrm>
          <a:prstGeom prst="roundRect">
            <a:avLst>
              <a:gd name="adj" fmla="val 1935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07992" y="2697480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pane - an expandable tree showing every protocol layer of the selected packet.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0" y="1783080"/>
            <a:ext cx="3657600" cy="640080"/>
          </a:xfrm>
          <a:prstGeom prst="rect">
            <a:avLst/>
          </a:prstGeom>
          <a:solidFill>
            <a:srgbClr val="13214A"/>
          </a:solidFill>
          <a:ln w="12700">
            <a:solidFill>
              <a:srgbClr val="1321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Bytes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46720" y="2496312"/>
            <a:ext cx="3657600" cy="2834640"/>
          </a:xfrm>
          <a:prstGeom prst="roundRect">
            <a:avLst>
              <a:gd name="adj" fmla="val 1935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02752" y="2697480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pane - the raw hex and ASCII bytes that make up the selected packet.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GETTING STARTED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Traffic - The Basics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83080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interface (Wi-Fi, Ethernet) from the Wireshark start screen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660904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642616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blue shark-fin icon to start capturing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502152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some traffic - browse a site, ping something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379976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361688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red square to stop the capture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5239512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522122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&gt; Save As to keep the capture as a .pcapng for later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FILTERING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&amp; Filtering Traffic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thousands of packets in a capture, display filters narrow the view down to exactly what you're looking for.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Filters: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6949440" cy="2331720"/>
          </a:xfrm>
          <a:prstGeom prst="roundRect">
            <a:avLst>
              <a:gd name="adj" fmla="val 2353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</a:t>
            </a: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only HTTP traffic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192.168.1.1   </a:t>
            </a: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to/from an IP address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443   </a:t>
            </a: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on a specific port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  </a:t>
            </a: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only DNS queries &amp; responses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2880360"/>
            <a:ext cx="4114800" cy="2331720"/>
          </a:xfrm>
          <a:prstGeom prst="roundRect">
            <a:avLst>
              <a:gd name="adj" fmla="val 2353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3108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kern="0" spc="2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
</a:t>
            </a: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any field in the Packet Details pane and choose 'Apply as Filter' to build filters without memorizing syntax.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TELNET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Telnet: A Cleartext Protocol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 </a:t>
            </a:r>
            <a:r>
              <a:rPr lang="en-US" sz="18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 is a remote-login protocol (TCP port 23) that sends everything - including usernames and passwords - as plain, unencrypted text over the network.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a Risk: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7033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encryption - anyone capturing the traffic can read it directly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found on legacy devices, switches, and older lab equipment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in modern practice by SSH, which encrypts the session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textbook example of why NTA matters for a defender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DEMO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Cleartext Credentials in Wireshark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class capture file (wireshark-101-class-capture.pcapng)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4231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tcp.port == 23 to isolate the Telnet session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154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any packet in that conversation, then Follow &gt; TCP Stream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40080" y="390448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886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reconstructed session top to bottom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4617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username and password sitting in plain text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457200" y="54864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4864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 </a:t>
            </a: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visibility that helps you troubleshoot a network also shows you when a system is exposing credentials in the clear.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ETHICS &amp; LEGAL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Responsibly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 </a:t>
            </a:r>
            <a:r>
              <a:rPr lang="en-US" sz="18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capture traffic on networks you own, or where you have explicit written authorization to test.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packet capture can violate the Computer Fraud and Abuse Act (CFAA) and similar state laws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labs, personal home networks, and NCL / CTF ranges are fair game - production or public networks are not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ask leadership before you sniff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skills in this deck are for defense and authorized testing only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 IT YOURSELF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Into Practice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test what you just learned against the class capture? This week's challenge is posted in two places: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5440680" cy="2377440"/>
          </a:xfrm>
          <a:prstGeom prst="roundRect">
            <a:avLst>
              <a:gd name="adj" fmla="val 2308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260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832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ungcyberunit.org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under Announcements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440680" cy="2377440"/>
          </a:xfrm>
          <a:prstGeom prst="roundRect">
            <a:avLst>
              <a:gd name="adj" fmla="val 2308"/>
            </a:avLst>
          </a:prstGeom>
          <a:solidFill>
            <a:srgbClr val="14171D"/>
          </a:solidFill>
          <a:ln w="12700">
            <a:solidFill>
              <a:srgbClr val="14171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29260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ONEDRIVE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3832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Cyber Unit OneDrive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233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posted there for offline access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RECAP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88366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NTA turns raw traffic into visibility - the foundation of incident response and troubleshooting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75234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51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captures and dissects that traffic pane by pane: List, Details, Bytes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362102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filters (http, tcp.port, dns) narrow a busy capture down fast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02920" y="448970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389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Cleartext protocols like Telnet hand credentials to anyone who's listening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358384"/>
            <a:ext cx="128016" cy="128016"/>
          </a:xfrm>
          <a:prstGeom prst="rect">
            <a:avLst/>
          </a:prstGeom>
          <a:solidFill>
            <a:srgbClr val="FEDE2B"/>
          </a:solidFill>
          <a:ln w="12700">
            <a:solidFill>
              <a:srgbClr val="FEDE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capture on networks you're authorized to test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RESOURCES</a:t>
            </a:r>
            <a:endParaRPr lang="en-US" sz="1300" dirty="0"/>
          </a:p>
        </p:txBody>
      </p:sp>
      <p:pic>
        <p:nvPicPr>
          <p:cNvPr id="3" name="Image 0" descr="logo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6032"/>
            <a:ext cx="86868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Resources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User's Guide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Wiki - Sample Captures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 Cyber Unit - NTA Session Notes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Links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3317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wireshark.org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wiki.wireshark.org/SampleCaptures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wiki.wireshark.org/DisplayFilters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DBBCF076D03E4F9C12328C09CF4D1B" ma:contentTypeVersion="3" ma:contentTypeDescription="Create a new document." ma:contentTypeScope="" ma:versionID="7120549448deedbf851a2b5ba0e4043c">
  <xsd:schema xmlns:xsd="http://www.w3.org/2001/XMLSchema" xmlns:xs="http://www.w3.org/2001/XMLSchema" xmlns:p="http://schemas.microsoft.com/office/2006/metadata/properties" xmlns:ns2="d1d0dddd-f30e-4632-aa21-7273b4e7133b" targetNamespace="http://schemas.microsoft.com/office/2006/metadata/properties" ma:root="true" ma:fieldsID="31ed8473a379190351d79122fb8b43e9" ns2:_="">
    <xsd:import namespace="d1d0dddd-f30e-4632-aa21-7273b4e713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d0dddd-f30e-4632-aa21-7273b4e713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467DC4-507D-426C-8942-A799C95C0C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C0FDFC-6BC9-4A69-9E08-25C57C26B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d0dddd-f30e-4632-aa21-7273b4e713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DC4BD4-91E3-4A1F-BEBA-2D03327794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18</cp:revision>
  <dcterms:created xsi:type="dcterms:W3CDTF">2026-09-22T14:04:50Z</dcterms:created>
  <dcterms:modified xsi:type="dcterms:W3CDTF">2026-09-22T14:14:30Z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0x0101007ADBBCF076D03E4F9C12328C09CF4D1B</vt:lpwstr>
  </property>
</Properties>
</file>